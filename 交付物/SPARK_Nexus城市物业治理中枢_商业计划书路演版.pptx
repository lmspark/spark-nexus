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667e9083f4358" /><Relationship Type="http://schemas.openxmlformats.org/officeDocument/2006/relationships/extended-properties" Target="/docProps/app.xml" Id="R70055670a43345e2" /><Relationship Type="http://schemas.openxmlformats.org/officeDocument/2006/relationships/officeDocument" Target="/ppt/presentation.xml" Id="R375d3bce03e642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62f71697d4296"/>
  </p:sldMasterIdLst>
  <p:notesMasterIdLst>
    <p:notesMasterId xmlns:r="http://schemas.openxmlformats.org/officeDocument/2006/relationships" r:id="R830ebbfdf287444c"/>
  </p:notesMasterIdLst>
  <p:sldIdLst>
    <p:sldId xmlns:r="http://schemas.openxmlformats.org/officeDocument/2006/relationships" id="256" r:id="R8d33538df5124ee9"/>
    <p:sldId xmlns:r="http://schemas.openxmlformats.org/officeDocument/2006/relationships" id="257" r:id="Rc31e14c5aef3430a"/>
    <p:sldId xmlns:r="http://schemas.openxmlformats.org/officeDocument/2006/relationships" id="258" r:id="R65f685fa16b544cc"/>
    <p:sldId xmlns:r="http://schemas.openxmlformats.org/officeDocument/2006/relationships" id="259" r:id="R1020dc892d1b4bbc"/>
    <p:sldId xmlns:r="http://schemas.openxmlformats.org/officeDocument/2006/relationships" id="260" r:id="Rff747da2a07b4294"/>
    <p:sldId xmlns:r="http://schemas.openxmlformats.org/officeDocument/2006/relationships" id="261" r:id="Ra77bbac78d3a497d"/>
    <p:sldId xmlns:r="http://schemas.openxmlformats.org/officeDocument/2006/relationships" id="262" r:id="Rf6628528880b40f0"/>
    <p:sldId xmlns:r="http://schemas.openxmlformats.org/officeDocument/2006/relationships" id="263" r:id="R1b2fbd29e6f34aa4"/>
    <p:sldId xmlns:r="http://schemas.openxmlformats.org/officeDocument/2006/relationships" id="264" r:id="R9c6d9a637b1f449a"/>
    <p:sldId xmlns:r="http://schemas.openxmlformats.org/officeDocument/2006/relationships" id="265" r:id="R095511a60bdd4af2"/>
    <p:sldId xmlns:r="http://schemas.openxmlformats.org/officeDocument/2006/relationships" id="266" r:id="R5046e52a128e447c"/>
    <p:sldId xmlns:r="http://schemas.openxmlformats.org/officeDocument/2006/relationships" id="267" r:id="R3b68e48c595040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91a2c24d84b44" /><Relationship Type="http://schemas.openxmlformats.org/officeDocument/2006/relationships/slideMaster" Target="/ppt/slideMasters/slideMaster1.xml" Id="R47c62f71697d4296" /><Relationship Type="http://schemas.openxmlformats.org/officeDocument/2006/relationships/notesMaster" Target="/ppt/notesMasters/notesMaster1.xml" Id="R830ebbfdf287444c" /><Relationship Type="http://schemas.openxmlformats.org/officeDocument/2006/relationships/presProps" Target="/ppt/presProps.xml" Id="R3e41534cb7274af5" /><Relationship Type="http://schemas.openxmlformats.org/officeDocument/2006/relationships/viewProps" Target="/ppt/viewProps.xml" Id="R07e97e81a7c94669" /><Relationship Type="http://schemas.openxmlformats.org/officeDocument/2006/relationships/tableStyles" Target="/ppt/tableStyles.xml" Id="Rb0b57a77a1c146dc" /><Relationship Type="http://schemas.openxmlformats.org/officeDocument/2006/relationships/slide" Target="/ppt/slides/slide1.xml" Id="R8d33538df5124ee9" /><Relationship Type="http://schemas.openxmlformats.org/officeDocument/2006/relationships/slide" Target="/ppt/slides/slide2.xml" Id="Rc31e14c5aef3430a" /><Relationship Type="http://schemas.openxmlformats.org/officeDocument/2006/relationships/slide" Target="/ppt/slides/slide3.xml" Id="R65f685fa16b544cc" /><Relationship Type="http://schemas.openxmlformats.org/officeDocument/2006/relationships/slide" Target="/ppt/slides/slide4.xml" Id="R1020dc892d1b4bbc" /><Relationship Type="http://schemas.openxmlformats.org/officeDocument/2006/relationships/slide" Target="/ppt/slides/slide5.xml" Id="Rff747da2a07b4294" /><Relationship Type="http://schemas.openxmlformats.org/officeDocument/2006/relationships/slide" Target="/ppt/slides/slide6.xml" Id="Ra77bbac78d3a497d" /><Relationship Type="http://schemas.openxmlformats.org/officeDocument/2006/relationships/slide" Target="/ppt/slides/slide7.xml" Id="Rf6628528880b40f0" /><Relationship Type="http://schemas.openxmlformats.org/officeDocument/2006/relationships/slide" Target="/ppt/slides/slide8.xml" Id="R1b2fbd29e6f34aa4" /><Relationship Type="http://schemas.openxmlformats.org/officeDocument/2006/relationships/slide" Target="/ppt/slides/slide9.xml" Id="R9c6d9a637b1f449a" /><Relationship Type="http://schemas.openxmlformats.org/officeDocument/2006/relationships/slide" Target="/ppt/slides/slide10.xml" Id="R095511a60bdd4af2" /><Relationship Type="http://schemas.openxmlformats.org/officeDocument/2006/relationships/slide" Target="/ppt/slides/slide11.xml" Id="R5046e52a128e447c" /><Relationship Type="http://schemas.openxmlformats.org/officeDocument/2006/relationships/slide" Target="/ppt/slides/slide12.xml" Id="R3b68e48c5950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c5f083e6d7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51244e94734236" /><Relationship Type="http://schemas.openxmlformats.org/officeDocument/2006/relationships/notesMaster" Target="/ppt/notesMasters/notesMaster1.xml" Id="Rb6d5379e66fb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bb64226074cca" /><Relationship Type="http://schemas.openxmlformats.org/officeDocument/2006/relationships/notesMaster" Target="/ppt/notesMasters/notesMaster1.xml" Id="Rc2f7edbd079d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55bf0bde7c41cf" /><Relationship Type="http://schemas.openxmlformats.org/officeDocument/2006/relationships/notesMaster" Target="/ppt/notesMasters/notesMaster1.xml" Id="R3dc9ae9c85b7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e9ad50d50c4acc" /><Relationship Type="http://schemas.openxmlformats.org/officeDocument/2006/relationships/notesMaster" Target="/ppt/notesMasters/notesMaster1.xml" Id="R38ee5c8b27054d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a831b5fbc465e" /><Relationship Type="http://schemas.openxmlformats.org/officeDocument/2006/relationships/notesMaster" Target="/ppt/notesMasters/notesMaster1.xml" Id="R342783a3e4e846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884b44783480e" /><Relationship Type="http://schemas.openxmlformats.org/officeDocument/2006/relationships/notesMaster" Target="/ppt/notesMasters/notesMaster1.xml" Id="R6d5bfd88bf76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5a260072f4b1a" /><Relationship Type="http://schemas.openxmlformats.org/officeDocument/2006/relationships/notesMaster" Target="/ppt/notesMasters/notesMaster1.xml" Id="R2bd4194d90ca4d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66e997d3ac4071" /><Relationship Type="http://schemas.openxmlformats.org/officeDocument/2006/relationships/notesMaster" Target="/ppt/notesMasters/notesMaster1.xml" Id="R36f6b863a1374d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f6aaf3d874b9b" /><Relationship Type="http://schemas.openxmlformats.org/officeDocument/2006/relationships/notesMaster" Target="/ppt/notesMasters/notesMaster1.xml" Id="R7d57e2f5bd4643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c1721d5c244fd0" /><Relationship Type="http://schemas.openxmlformats.org/officeDocument/2006/relationships/notesMaster" Target="/ppt/notesMasters/notesMaster1.xml" Id="Rebee1934823e4c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e8e5bdf4f44b87" /><Relationship Type="http://schemas.openxmlformats.org/officeDocument/2006/relationships/notesMaster" Target="/ppt/notesMasters/notesMaster1.xml" Id="Rcca400da577942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8a1bf66ee9457d" /><Relationship Type="http://schemas.openxmlformats.org/officeDocument/2006/relationships/notesMaster" Target="/ppt/notesMasters/notesMaster1.xml" Id="R9b8ae41a9f4147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34e0fb8ca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b4d84bd22e4b7b" /><Relationship Type="http://schemas.openxmlformats.org/officeDocument/2006/relationships/slideLayout" Target="/ppt/slideLayouts/slideLayout1.xml" Id="R00485b3b7029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485b3b7029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7b2b96f0a4f54" /><Relationship Type="http://schemas.openxmlformats.org/officeDocument/2006/relationships/notesSlide" Target="/ppt/notesSlides/notesSlide1.xml" Id="R661e19307fce4a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65f69248d4a83" /><Relationship Type="http://schemas.openxmlformats.org/officeDocument/2006/relationships/notesSlide" Target="/ppt/notesSlides/notesSlide2.xml" Id="R0a4a114458d7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ab7c18a064370" /><Relationship Type="http://schemas.openxmlformats.org/officeDocument/2006/relationships/notesSlide" Target="/ppt/notesSlides/notesSlide3.xml" Id="R050c48eae0d848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0e5b807249dc" /><Relationship Type="http://schemas.openxmlformats.org/officeDocument/2006/relationships/notesSlide" Target="/ppt/notesSlides/notesSlide4.xml" Id="Rf7b53901a75e42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4254dc39a463e" /><Relationship Type="http://schemas.openxmlformats.org/officeDocument/2006/relationships/notesSlide" Target="/ppt/notesSlides/notesSlide5.xml" Id="Rd13cc08ae45e46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870a5273f48c9" /><Relationship Type="http://schemas.openxmlformats.org/officeDocument/2006/relationships/notesSlide" Target="/ppt/notesSlides/notesSlide6.xml" Id="R318d76a9836f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6afa7d4e64b89" /><Relationship Type="http://schemas.openxmlformats.org/officeDocument/2006/relationships/notesSlide" Target="/ppt/notesSlides/notesSlide7.xml" Id="R6a26e1a53f474d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46d527b5a4120" /><Relationship Type="http://schemas.openxmlformats.org/officeDocument/2006/relationships/notesSlide" Target="/ppt/notesSlides/notesSlide8.xml" Id="R0703d6a3afff42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c249688d74471" /><Relationship Type="http://schemas.openxmlformats.org/officeDocument/2006/relationships/notesSlide" Target="/ppt/notesSlides/notesSlide9.xml" Id="Rf294d23b6c7c43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72bf4e3d74c78" /><Relationship Type="http://schemas.openxmlformats.org/officeDocument/2006/relationships/notesSlide" Target="/ppt/notesSlides/notesSlide10.xml" Id="R7d06bb15b3e94f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d0cb53c74004" /><Relationship Type="http://schemas.openxmlformats.org/officeDocument/2006/relationships/notesSlide" Target="/ppt/notesSlides/notesSlide11.xml" Id="Rb1fd7144c88d4c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86b0aa7fb4f55" /><Relationship Type="http://schemas.openxmlformats.org/officeDocument/2006/relationships/notesSlide" Target="/ppt/notesSlides/notesSlide12.xml" Id="R528a1f933c114e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2A784-D0E5-4701-9E69-80362DB0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D4B24-5497-4018-AF45-9A4D1545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C2E05-5973-4F17-A53C-943A5CF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6A11B7-54F8-436F-8911-3BE761F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408C64-71EE-41F8-9F16-7841FAE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BUSINESS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CAC74-F787-4A6C-91BC-D72D8CB3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rPr>
              <a:t>SPARK Nexus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01D01-B2FE-4582-A473-F307668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把小区变成可治理、可付费、可经营的城市单元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C3DB1-9EFD-4BFC-A8FE-6FBDC50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657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政府/街道提供治理背书，居委会掌握准入审批，物业公司与银行成为长期付费主体，服务商生态在小区授权下增长。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D5E3C-D3E0-439B-A5E0-C50225DB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339B8-280A-46D8-A732-3E4379C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1FCA5-6B65-4A54-9052-2EDBCEDA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小区主档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EEBB6-9156-406E-A4D4-773F3C04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所有协作围绕同一小区空间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C4362-6CC1-4936-AF1E-207692D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73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722B7-2CF2-4EC8-9A5F-0423690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C720E-6C89-456A-A09B-EC5AB1FE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48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付费主线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9AB20-117B-46CD-821A-3674F68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48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物业公司 + 银行服务商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22ADC-57C1-44FD-9740-D1481595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230DF-8ACD-4E20-8577-40BD2C50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48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055BE-D7D3-4B05-B0E5-2626E76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48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服务生态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E043A-22E5-438A-B2F9-33E469C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48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本地服务商审批后进入小区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5046D-A67C-4692-A42E-4A961429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144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商业计划书</a:t>
            </a:r>
          </a:p>
          <a:p xmlns:a="http://schemas.openxmlformats.org/drawingml/2006/main">
            <a:pPr algn="l">
              <a:defRPr sz="1200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4DEAF-AD37-483D-9731-6D77FD1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不是再做一个物业后台，而是建设一套由基层治理背书的社区资金与服务基础设施。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E0084-EE64-4C60-85D5-E927E58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8DD7B-21E7-4131-87F0-4674C25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5DA1B-641D-41BE-9CCF-C01F6E51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商业计划书 | 内部讨论稿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E046C-4C5B-468D-AF10-8FA1F1C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27992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3DE7B-4BF4-47F0-8AA4-8FE863D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A75A30-6224-4EB2-95BC-6D362FF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E5BE26-72BC-422B-B4D9-8A183E2D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MARKET PAIN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0274C-77F8-4D76-B3ED-92CF6CBA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问题不在软件缺功能，而在小区里没有统一的协作秩序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06C8D-E137-425D-BD59-D086292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物业、政府、银行、本地服务商各有系统，却没有共同的准入、授权、资金和触达链路。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52E3A-6DC2-4926-88FA-6C3665B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03549-FB4A-4051-89F1-87DF9DE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政府/街道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A8D29-401F-4E59-A97D-AC4A3772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8859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想监管风险、推动基层治理，但传统物业系统给不了完整台账和验收证据。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03D72-F051-47C0-848E-AE6EABD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26112-3491-41D0-B7C0-995336B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66975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物业公司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3D4F8-70B7-463B-9BFA-25697C6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33675"/>
            <a:ext cx="18859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有收费、报修和业主满意度压力，却缺少居委会背书与银行资金协同。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56D40-3C31-42A8-AD17-124756E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2190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7C5F9-D4F5-4217-80A2-37FB131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52725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银行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C5C30-30B3-4628-8956-4A7A170E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18859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能做缴费和结算，但缺少小区治理关系、物业授权和居民持续触达。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A4ABB-4798-4743-BF4B-4CCD4E1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B4945-EADC-4159-90C6-39D08076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66975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本地服务商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3CAC2-5660-41B6-BE6D-5EC12F8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3675"/>
            <a:ext cx="18859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想进小区做生意，但如果没有居委会准入，会变成无序营销和投诉风险。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DD5CF-0311-4303-A586-E54CF35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249ED-7D54-446F-8EF9-F5540489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CA5C7-CF46-4F4B-B422-B721CEA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81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89C6C-F865-4B93-9364-84C430F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A75D3-74AE-409E-9F6F-82BC955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40BEE-5D17-4324-970A-A058D6F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4048B-D90E-45E7-BE35-C099D86F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0FB18-C348-4B0E-9CD3-C2994A92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5777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SPARK Nexus 的切入点：先建秩序，再做运营和商业化。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8D850-AB66-4547-BBDD-E551DE9D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C1871-A752-4713-A979-35FF74C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31C15-6A6F-4EF7-BA6B-CCE2BC5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痛点来自项目业务建模和现有产品实现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BF330-6AEC-4453-857C-183F8DF9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520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3A929-7EF0-4F3E-8A37-68EEE94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E4F0BE-914B-4FE1-9E35-0E71C0F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68339B-CD41-4055-8716-29574F93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POLICY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31DF1-844E-44AF-86C0-595E1AA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政策资金适合打开试点，长期收入必须落到物业和银行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BFDA8-8159-44F4-A71F-CC4CC59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智慧社区、完整社区、基层治理、党建引领都能成为启动理由；但商业闭环要靠日常运营和资金服务续费。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BAC3F-9A4E-4450-B3EE-22E3146C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167C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85657-E9A7-499B-87E5-76E00DD8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启动资金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585E4-EF90-44FE-ACBC-597FB91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政府/街道试点、基层治理项目、智慧社区建设、完整社区示范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08D37-7E64-4F4E-8825-46313685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2"/>
          </a:solidFill>
          <a:ln xmlns:a="http://schemas.openxmlformats.org/drawingml/2006/main" w="9525">
            <a:solidFill>
              <a:srgbClr val="C783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2EE4E-4F51-427D-A9AA-7246D0F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rPr>
              <a:t>续费收入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F4F7D-9971-4A57-99D9-BC3719B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物业 SaaS 年费 + 银行服务年费 + 本地服务商生态收入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C03EB-8C0F-4256-9DD3-7DCF36A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ADCCA-0570-4E5F-A0C1-7DC390C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政策依据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37272-8B68-4002-A47F-46937437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《十四五城乡社区服务体系建设规划》指出社区服务存在党建引领、多方参与和信息化薄弱问题。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DA67E-B852-4FB3-A26B-E5064B8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智慧社区建设意见强调党的全面领导、便民惠民智慧服务圈和安全发展。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83926-D5F3-4765-A2E9-7B90B8E1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物业服务规范已经把微信群、公众号、小程序、移动应用作为服务业户的线上入口。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E7619-5007-4FA4-A502-013483B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3FF84-B5A3-4D3F-ADFA-6A38A90B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89EB6-8FCF-42A5-9AF4-77A78A9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来源：国务院、民政部等智慧社区/社区服务体系政策；广州市住宅物业服务规范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2D7BE-44BF-4831-A0EF-B5102B7D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9544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78A81-C39F-47FA-BD6E-3CE90FE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F11812-37EE-4C19-850F-92876D6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31C933-138A-417F-9094-E2BD6F4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PLATFORM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BC8C4-F0C2-40CA-8C24-941CF6AE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一张小区主档，把治理、物业、银行和服务生态连成一个系统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5A39E-9EEB-4F2A-A3EF-B858377A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平台的核心资产不是页面，而是小区关系、审批证据、数据授权和资金流水。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4DF5D-0FB7-49F6-B760-166A847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A9A7D-44FB-4FE8-BB50-18D0364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小区主档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6087-FC31-49F5-BFE8-0593C43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社区 / 楼栋 / 房屋 / 住户 / 机构关系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386A6-3182-4802-AC26-BEB7DB59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315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9647C-8B56-4183-B6FF-EA96C21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670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政府/街道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77F81-DD87-487C-ADD7-74906A6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62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监管大屏</a:t>
            </a:r>
          </a:p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验收留档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E3A82-3597-4098-9DC2-68615F7D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053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F3C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164D7-58A5-406C-B4AF-C73F4BAF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rPr>
              <a:t>居委会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B0700-D8AF-41C4-B6B9-5912D12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529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党建治理</a:t>
            </a:r>
          </a:p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准入审批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B0604-5C0F-4645-B28C-C57DAC00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315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FF271-4B3E-4C97-A4BE-7C10201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物业公司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02755-363C-42BE-84BA-C0854F0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289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收费报修</a:t>
            </a:r>
          </a:p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公示票据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3F11B-0ED4-42D7-A998-6CBA6F94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315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D7DE7-B421-43B8-800B-55E0BAE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00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银行服务商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66470-7B59-4AD2-AB99-27412C0A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05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代收监管</a:t>
            </a:r>
          </a:p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对账放款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961A1-1DBB-4B6B-A611-AD77AB2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00625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315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0820A-7413-4017-99F0-B08CA904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530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服务商生态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E7C54-E230-465A-8C2E-6A371B9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48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准入上架</a:t>
            </a:r>
          </a:p>
          <a:p xmlns:a="http://schemas.openxmlformats.org/drawingml/2006/main">
            <a:pPr algn="l">
              <a:def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评价退出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560F0-377E-460F-B63E-B2E6C908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71825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707DE-54D5-4478-9111-BBAA5F8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573C7-33E1-47FE-933A-BF0C329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71825"/>
            <a:ext cx="1019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B2EF3-37AB-4617-9D19-D02DCB3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1019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E9F67-5F96-498B-A168-0A589C62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19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E6EBE-FFEA-4C47-B234-D1D0308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52363-14CC-411C-8B37-E759929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关系表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703E6-0B94-443F-9182-FB108E62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39E9D-D34C-44FF-BB71-D844E8F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授权表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FF945-E3CB-4D0A-B002-ACCFF03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00CC3-3CDD-460F-B9E4-24AC36A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32A3F0-42DA-4AEB-909B-C1B4DAA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产品证明对象：小区主档 + 关系表 + 授权表 + 审计流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42F1BC-42FD-4917-AF1C-3182ACD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63679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6B60E-B8C3-4CCB-AEA1-2942F16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8610DF2-9E67-487D-89BD-6D4E2E5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134A13-3B12-4B4C-81B9-14C1491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GATEKEEPER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59296-377B-44D6-A0B1-5E8147C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居委会审批，是服务商进入小区的信任闸门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09757-88F2-4ADB-896E-3A39F00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银行、物业、本地商户从语义上都是服务商；区别只是服务类型和后续功能强弱。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C66F6-C1FB-4897-90C5-D5F4B7F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857CB-D8E5-43DB-B697-0A696F3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783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FAB1-3B7E-47F7-8DD9-B238438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主体注册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EA95D-51DB-42C2-83BF-C71EE278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物业/银行/本地服务商先成为平台租户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0C812-2261-496B-B073-38B74D7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956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38280-6566-4F76-999A-279D0324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B08BA-B552-40FF-AA52-D3F55ECB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758E7-0F5F-4B3F-A8FE-E4F17AC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783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930AA-144B-4767-A8B2-D8C5D28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选择小区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8FC6D-2393-4CD9-9D60-F8C98F62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76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申请绑定具体小区与服务范围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F10F5-C5AC-420E-B285-85F37E2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956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308A6-1F20-4171-ACE9-E613145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477B5-021D-4FCB-AA6A-A6F31AD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9525">
            <a:solidFill>
              <a:srgbClr val="167C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411F5-9BCF-495B-BEC8-65BAB29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C6B5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4C6B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0AD49-193A-466C-A2D9-4BCDABE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居委会审批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4DF69-7DDE-4480-8FB4-25F2B10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76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核资质、服务边界、居民影响与退出机制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0F581-4D5E-4CEA-BAFB-ACE4268A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956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87840-F2F3-47C6-B393-7E291A9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C5B34-3B25-4FBD-B293-5D15978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BE2B1-8859-45EB-BBF4-95AE6670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783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8E1D8-A5C1-4C98-9013-23275241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自动授权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95669-DCA6-4575-826C-BC05C397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通过后生成关系和数据权限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22E60-B61F-4550-A3DD-A65A8C69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956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22D27-3CA4-40AD-B0D7-A3DCBCA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C2FA53-D4A3-4D91-8D1B-BADFDF5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11A8E-77A5-44C6-979D-FF295CF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9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783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11C1B-EFDF-4046-902C-985DA12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持续监管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262A3-42B7-484B-A43A-7FA48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评价、投诉、暂停、清退都留痕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60B5C-CF5E-4DD3-8F67-369E538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167C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1ADDFA-49A2-43D8-94D6-300C50C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结果：服务商有入口，居民有保障，政府有留痕，平台有可复制的准入规则。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017782-BD30-493E-A0EB-D837B7EA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105307-A10A-403D-B894-2ECC68B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0D7D7-0210-4803-BE42-FF96977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已落地：小区备案、物业/银行/本地服务商绑定小区均需居委会审批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2CE30-C2F2-4603-A4BA-DCA04F20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25796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241BF-035E-4195-BE1B-B528C6F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40BEDF-568A-430C-924F-AD5ECC9F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876F10-C784-4E67-A4B8-2520970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COMMITTEE 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803B3-105E-4E85-8A56-1C30537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党建引领不是口号，而是居委会工作台里的可审计台账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530E2-96E7-4EE6-8AA3-B5F9DFD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党组织活动、网格事项、关爱走访、资源联动和微信通知在同一套小区授权里闭环。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29C1-8F45-4098-A3A4-12B0827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EB7C1-ECCD-4F34-9F29-1F729ACC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居委会工作台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19D92-03D3-42E4-9FD8-EC5D1E44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6 个核心指标</a:t>
            </a:r>
          </a:p>
          <a:p xmlns:a="http://schemas.openxmlformats.org/drawingml/2006/main">
            <a:pPr algn="l">
              <a:defRPr sz="1275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治理事项 / 办理中 / 闭环率 / 到期提醒 / 关爱对象 / 党建引领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13255-11A9-4931-AC58-52FA42B1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4C6B5"/>
                </a:solidFill>
                <a:latin typeface="Microsoft YaHei"/>
                <a:ea typeface="Microsoft YaHei"/>
                <a:cs typeface="Microsoft YaHei"/>
              </a:rPr>
              <a:t>权限边界：COMMUNITY_GOVERNANCE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FBC3-B4AB-4646-823C-26C89E5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3A0D6-1674-40D1-85D5-469A007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党建引领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D9184-4514-4D14-BCEF-A4EB4DE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支部会议、党员先锋服务、红色议事厅、党建联席会。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82EC8-1387-4DCD-AAF1-A69A6BF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8FC3D-3130-4024-8822-8A58242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网格治理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DFD02-6DA0-4061-B0DD-6CE2DC8B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居民诉求、物业矛盾、资源联动、办理轨迹。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5F0DE-3925-44CF-BE33-DA1E646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28746-6B04-4A8C-AC7E-D6367688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38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关爱走访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D6724-3D60-48F4-A910-8B36EA9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053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独居老人、困境儿童、残障居民、困难家庭。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BBF8A-E428-49CA-A2FF-5403392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6DCC8-F79B-4C14-B851-1ACA6BFC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微信通知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CC508-6CB7-4A9B-84F8-9252A40A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政府/居委会背书，治理消息触达并留调用日志。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518E8-E96E-4CFD-AE23-65626F0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94E44-A1B3-4CF8-8BC0-286E1BD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C98C3-118D-498C-B7CB-D3CD4509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已落地：neighborhood_party_activity + WECHAT_GOV 消息台账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EE99B-6657-4E6F-B92F-3D0F8F5D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4368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7547A-EEAF-4D2F-BD0B-ED37FEF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A83C77-3E40-4030-A9F9-1B57AFC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B8A04B-B6FD-412B-9F8E-9E0DD6BA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PROPERTY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4EF56-01B8-4B6D-B985-315338E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物业公司付费，是因为平台直接改善现金流、效率和信任证据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3A545-6B42-4048-9F3A-B683F235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物业不是被监管对象这么简单，它是日常运营的第一付费主线。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5716C-2ADD-4BBF-B416-4AB56591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收费缴费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12465-65F6-40C2-A52C-855B07C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3381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线上缴费、欠费催缴、支付/退款、电子票据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BB4C3-D57E-4B9A-AC60-DBBDFC64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574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50F90-A9DB-49F0-8F8B-699F857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5745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EF7D8-6DD1-49D0-B04F-84215F08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现金流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BE6D1-6DB2-48EF-8BA6-3EACF208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报修投诉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846E-2219-4D92-AF48-CB00D154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81350"/>
            <a:ext cx="3381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SLA、处理回复、服务评价、微信/站内触达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8EBB5-C1C8-427E-957C-DF8D6EA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32D4B-F1D3-4844-A770-3423DC7B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0242F-4695-4E65-81C9-0E845DEE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5D985-BF26-4C3F-AA26-ABEFDB8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公共收益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BB76B-9373-4E41-9AA9-B8522FC7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3381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支出审批、业主投票、银行放款、财务凭证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F29D1-0418-474A-A85A-DF10A0C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133F9-BADA-48C9-AAF6-6FA4DA8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A851F-5D57-4EA0-8094-262A4A2C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rPr>
              <a:t>透明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49DC3-15AB-4F70-B522-F6CE874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公示审计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05C6-F97A-4752-A95C-61ABCC5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3381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公告、公示、导出留痕、监管验收证据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5B6BB-F8CA-4A3C-AFD9-285BC8B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006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794C4-A805-4FAB-A5DA-6BE9335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00600"/>
            <a:ext cx="2114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A5F50-37D3-4F33-8312-DA44B254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832E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68D2A-DE99-441C-98DE-0679965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6B0D9-4EE6-408B-BCF8-361FF55D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建议收费：0.5-2 元/户/月</a:t>
            </a:r>
          </a:p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或 8-30 万/年/物业公司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7DC9A-CC97-440B-8C00-9F41A77F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1AACC-FA30-48F6-ADEB-5118BE4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7CCAD-FC0C-4CFB-8EDE-D2CB214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商业假设：物业 SaaS 年费按项目数量、户数和模块组合定价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CEE16-6DFD-42DB-8CE9-A7DDBFB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61254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14F62-C5FC-4EC5-A647-163365BB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462B0E-F5BA-4083-A030-4C8C6E9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920DB4-93F9-496A-AE8C-CC0D5D0A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BANK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5D5BA-F049-45E1-93C0-22BECB2F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银行不是支付通道，而是小区资金服务商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FE759-B3FF-4CED-876F-49F81E6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物业费、公共收益、监管账户、对账、放款和服务商结算，让银行在社区场景里持续参与。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194EF-DBA3-4F9C-BB6A-2C0CC87E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E222F-B2F4-45E0-A02A-44B8C74B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银行服务商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B7E81-B20B-4513-B45D-45EF6BEB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A38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3196D-68A5-4EB0-9611-B657528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物业费代收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EE255-D7E4-4C17-8CC2-BB40AD3E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6A343-87F3-457D-912C-47991F82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监管账户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998DD-22FC-4670-9894-4C513CE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A38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2AF32-D13B-48F0-A724-366D78D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33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对账/差异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30363-5ED0-4AEC-B076-29DD784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503F2-5166-4A0F-9B9B-6F8E3DA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放款回执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7D16A-A947-485D-B65C-82367DD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A38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F8BFC-AAC6-4914-AD64-3F75669A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71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服务商结算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C2172-9145-4E75-A44E-C9E2D37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4585D-9054-409B-B220-2ABB3246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7F29C-211A-433D-8F84-2FAD290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6B9EF-FBE4-4093-8619-A99AF5D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4911E-FD46-4810-A988-A40A5A0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527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3D61D-4FC2-4C4E-986A-6B2701C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4A010-FB0F-40C9-8D36-3B9F7E6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10-50 万/年/城市或区县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67654-E663-4AE3-BEAD-EB339CE0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483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收费点：多银行适配、缴费结算、监管账户、对账服务、回调验签、数据交换包。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43764-06F5-4945-9703-86FF11D8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C0273-3358-4B37-9928-EA26BB0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3D3B72-941C-4F7C-8ECE-D4DEEDF8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银行端价值：交易额 + 资金沉淀 + 社区金融入口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66A7F-A47E-4DF8-A0EF-043118BB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5801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67530-A0B4-4508-8C84-BA8C828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8AD9D3-A8D8-4546-97FA-A1C8FFC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35653E-2773-4106-ACB8-4F4F29CB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ECOSYSTEM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FB3C3-B554-44B4-8FCF-1171860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服务商生态能增长，但必须先被治理秩序驯服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F665E-2794-4587-82C8-64CA6FF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银行、物业、本地服务商统一看作服务商；平台通过准入、评价、投诉、清退把商业化风险变成可控资产。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A90E-33F9-4A1D-9BCC-BA1F9AB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7A973-2B75-4E9D-A0F5-358FE83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入驻认证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DD6EC-269E-4BCD-B0D2-8009DCE7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主体资质</a:t>
            </a:r>
          </a:p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服务范围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1E23F-379B-4C0F-AD16-EF16FB5A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7187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A99A9-BBC9-4D31-9DC1-6F8AE101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2C0E5-8BF9-4475-AA23-AD47ED34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167C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009B3-A6F7-4C6E-9ACB-C3F75AD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居委会评议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2ACB4-79F1-4195-BBF5-2432566C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718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居民影响</a:t>
            </a:r>
          </a:p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退出机制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D2620-8AA2-43E2-ACA7-1F4A102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7187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65E4D-5479-4C0A-835C-0A8F184B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EB098-FCAB-4424-97B7-75788A82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0FFAC-4E4E-45A7-B20E-2AA10CB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813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小区授权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A8DE9-ECA8-423B-9BD9-9FCC58C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718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数据范围</a:t>
            </a:r>
          </a:p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服务边界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A811C-9835-4FA9-B602-9F475DE4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22AAB-7D8E-4D87-BCF9-BA4377A3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C9BD1-9864-4172-BDE4-9DC229D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72D10-6118-4916-B013-F57AD14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服务履约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913C0-E2AB-4CD5-B0DF-4F33187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718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评价投诉</a:t>
            </a:r>
          </a:p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订单结算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00293-2463-48DF-B896-4CB7238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7187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C3656-E43F-4B99-955C-5B43362E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52FD-942C-4CBF-A003-7CED527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BCD47-3392-4F51-8357-664F135D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8135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动态退出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B0A6A-1176-432F-BC6D-D76903E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718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暂停清退</a:t>
            </a:r>
          </a:p>
          <a:p xmlns:a="http://schemas.openxmlformats.org/drawingml/2006/main">
            <a:pPr algn="l">
              <a:def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证据留存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92763-224D-4972-AD8C-8354549C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02015-842F-4783-8796-55AFC942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平台态度：先做可信服务网络，再做商业流量生意。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7B81A-6270-4C8F-A181-345D3A0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3FC57-6629-478E-BAF6-9C1B529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12A20-3A0F-4AB3-9189-4272C311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生态收入后置：认证/上架/订单服务费，先以低费率培育服务供给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2A76D-FC58-4F6E-8E10-E1868672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27253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8D374-B5AA-4F67-9078-9DD34216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8C9DC2-81BD-4A86-8F39-044C0DA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00E88E-4898-4003-8889-680D47E8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GO TO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1417-560C-4B25-A3DB-5F9B6CC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政府试点创造进入权，物业和银行续费创造商业结果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82D5E-CA37-40C1-B024-60E6F65B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推荐用一个街道或区县做 1+N 样板，再复制到更多小区和银行分支。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3AEF9-ABB3-40AF-A215-CDCCFFF8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D4930-66A9-419B-9D43-CCC5106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1 个街道/区县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5DB76-4281-4B26-9A02-4473064D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政策背书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试点采购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377B-61B3-4586-87EF-307F427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67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3475F-0D5D-475D-BB6D-94D820A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887C7-9262-40A1-89E1-DA48E901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0045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99E00-DF5F-4AAC-B9F1-FF043261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528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1-3 个居委会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2B6FA-BA01-47CC-89DF-E2A7EB0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95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党建/治理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准入审批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4071A-C98A-4974-BE54-2AFB8B12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8593B-16FC-4111-B9D1-619CBD1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BA25A-E607-4D69-88DD-54F4AD7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2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1580F-D0DD-4C63-84C1-82A09A8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10-30 个小区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0F798-8AE9-46E7-868F-E93BB51E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主档和授权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数据闭环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AC9EA-FFB8-4D3B-A75B-A609909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67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10805-6D05-47A7-9836-C3722B5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5CD03-11CC-42B2-96C5-C13C3CC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2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51D15-572E-4FC3-B0D2-4FAA501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2-5 家物业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03B93-7048-4648-8EC2-F35CC5E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收费报修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公共收益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D9085-FA21-40E0-9FB8-9FD469D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C06AF-AF92-4D41-9EC1-B764AEA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7F41B-4ECD-42D0-B42B-7E1DAED4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57550"/>
            <a:ext cx="1428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2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E9E30-6418-43B5-8059-72E28BB1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1-2 家银行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D941D-C7D4-4796-A9B8-02F367B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代收监管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对账放款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5E958-DAB4-4E62-BE17-1A99031D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B2A8D-184E-41D5-AD3C-AFE5E722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BD0F0-229F-48B0-AE0A-B5DA5F2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428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C9982-9F36-4B56-AF54-103AB24A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95650"/>
            <a:ext cx="120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20-50 服务商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959EE-6E94-4315-BA19-ECEE897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准入上架</a:t>
            </a:r>
          </a:p>
          <a:p xmlns:a="http://schemas.openxmlformats.org/drawingml/2006/main">
            <a:pPr algn="ctr">
              <a:def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评价退出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82C3C2-8879-4DA7-93E7-D2C15B7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关键 KPI：小区备案数、物业线上缴费率、银行交易额、服务商审批通过率、治理事项闭环率。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094C31-F86A-4B37-89FA-2E88E28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A17F4C-2837-4EDA-9F14-0D41E133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C9AC61-4A6E-4570-965B-9018D0D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GTM 策略：政府/居委会背书 -&gt; 物业/银行付费 -&gt; 服务商生态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F15B60-945E-4266-B5DF-0BA5F86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09855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9EB12-AF23-49F3-AF87-0E22DA6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91F49C-86AE-4553-9475-9E97635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AD9E2E-155A-4B1D-8CE5-5A57BB9C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8A63E-A81A-4A1F-8452-26D2E698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保守模型下，第 2 年靠物业和银行续费转正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02DFE-C397-45D4-8612-A16B741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政府项目收入用于启动，ARR 的核心来自小区覆盖后的物业 SaaS 和银行场景服务。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FA79A-4C52-43CF-8A76-F35CA55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FBE3E-8042-48B1-861B-A29FEF8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覆盖小区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4AC2F-DB7B-4777-A014-72B1278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物业/银行客户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5465C-DDF7-40F4-BC46-6DB2ED0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总收入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3761-A1DF-48EC-8D93-2AE73121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经营结果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FB411-1878-4148-9831-6A24CCD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4853B-DF93-4EB8-982C-82DBEB6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第 1 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CFC8E-E42A-4B34-9CED-DBA0DF5D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100 小区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63016-4847-4472-9275-A195B0D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12 付费客户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0172-1796-43F3-BBF8-B2B9F82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480 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F5C1B-CA0A-4C9D-86F4-1E2BD8AD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4E37"/>
                </a:solidFill>
                <a:latin typeface="Microsoft YaHei"/>
                <a:ea typeface="Microsoft YaHei"/>
                <a:cs typeface="Microsoft YaHei"/>
              </a:rPr>
              <a:t>-170 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213A5-A57F-4954-B3F9-C9BF74A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F00EC-038B-4BD9-8237-EE674B8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85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973D8-CF9F-4EC5-A896-2254008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24C21-F01B-478B-B4E6-90276EA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第 2 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BA386-5952-4327-9915-E1011C54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86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600 小区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B8991-B649-4A94-84BA-E568B7CA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60 付费客户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4DE0B-B76C-4CAF-AF23-B298F1B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2,100 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8CD3D-F670-423C-9E6D-11EE5BB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500 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4D2B3-315A-4669-BCB8-E83374A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C2D76-86B0-4262-BC47-B58D971B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35718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6E2BC7-DAAB-412B-A088-163BC8FD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2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61308-AED7-453C-A37C-5202B33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第 3 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1CC58-E532-40D2-B820-A187A624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2,500 小区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76CD2-CFE4-4D68-B6B4-35ECD9F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200 付费客户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A3FA3A-EEEE-4776-9816-F087874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8,300 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A43BD-7A7C-47A6-8324-8141F8C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3,500 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7D64F-42E7-4B7B-AB0C-C4C332E8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291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98AFB-809D-44AD-A509-6F24355B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291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E44989-C571-4875-9431-39882A3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25100-03F2-4EAB-96EB-D494424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577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年目标：8,300 万收入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3,500 万经营利润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DCC2A0-D709-4EAE-B9DD-20870160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5030E9-6CAF-41B2-BEC8-6AF7D5FB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E9971-5B2E-4FCB-A139-9F1AD4F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内部测算：待按城市、小区数、银行合作深度和实施成本校准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94D5A9-C4E0-43FF-99B5-6C162E0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19726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1F996-4228-4385-8F3F-3D101ED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DFCEBE-FD27-4706-A636-79CCCD6C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751877-91F5-40FA-9DF7-62F44A28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E7DF"/>
                </a:solidFill>
                <a:latin typeface="Microsoft YaHei"/>
                <a:ea typeface="Microsoft YaHei"/>
                <a:cs typeface="Microsoft YaHei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551FC-29C0-4C26-92F1-D91257DE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融资 1,000-1,500 万，把一个试点变成可复制城市打法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59D7A-B09F-4426-9FD4-D4E36400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33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资金用于补齐真实微信/银行接口、居委会移动端、信创部署能力和首批城市样板销售交付。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3651C-F11E-4794-BB17-A3738798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6433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47786-3196-4DC5-B019-7D35393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4909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产品研发</a:t>
            </a:r>
          </a:p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AE15F-9CC4-487F-B1AD-A2426A5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143250"/>
            <a:ext cx="202406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D734F-1A77-44F9-9AA4-9208253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13" y="3295650"/>
            <a:ext cx="187166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市场销售</a:t>
            </a:r>
          </a:p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E0BE3-789F-413F-9B38-E5078A7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12144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9754D-16D9-43BD-9797-026553DC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95650"/>
            <a:ext cx="106203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实施交付</a:t>
            </a:r>
          </a:p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BC5A6-787B-482F-A339-C9604C9C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3143250"/>
            <a:ext cx="809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71AAC-7F49-4523-9CDD-C514D191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29565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合规安全</a:t>
            </a:r>
          </a:p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8EB62-DEE3-42C7-B4C6-99941240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3143250"/>
            <a:ext cx="4048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1051D-6E90-4663-AD90-171CC2F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3295650"/>
            <a:ext cx="2524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运营储备</a:t>
            </a:r>
          </a:p>
          <a:p xmlns:a="http://schemas.openxmlformats.org/drawingml/2006/main">
            <a:pPr algn="ctr">
              <a:def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71E20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38973-4609-4938-93FF-E883BE2A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392C2-9F82-41AD-A627-D9380B2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C6B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4C6B5"/>
                </a:solidFill>
                <a:latin typeface="Georgia"/>
                <a:ea typeface="Georgia"/>
                <a:cs typeface="Georgia"/>
              </a:rPr>
              <a:t>90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54C46-B629-4B2A-A7BD-C3C752C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完成街道样板、微信模板消息、银行服务配置闭环。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728B6-2EC6-4AB4-8B79-024EBBB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858F8-B162-4339-8DC8-5EA78CB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C6B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4C6B5"/>
                </a:solidFill>
                <a:latin typeface="Georgia"/>
                <a:ea typeface="Georgia"/>
                <a:cs typeface="Georgia"/>
              </a:rPr>
              <a:t>180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0C9AB-CC49-40AA-B5BC-DFD1C1F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29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复制到 10-30 小区，形成物业和银行付费案例。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02EFD-C307-4770-941D-1CE8779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F"/>
          </a:solidFill>
          <a:ln xmlns:a="http://schemas.openxmlformats.org/drawingml/2006/main" w="9525">
            <a:solidFill>
              <a:srgbClr val="54C6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B30E4-A9A8-49AF-9C22-A3E5F87C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C6B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4C6B5"/>
                </a:solidFill>
                <a:latin typeface="Georgia"/>
                <a:ea typeface="Georgia"/>
                <a:cs typeface="Georgia"/>
              </a:rPr>
              <a:t>12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535F4-8E25-4C2A-9269-23B42DE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29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FE5E1"/>
                </a:solidFill>
                <a:latin typeface="Microsoft YaHei"/>
                <a:ea typeface="Microsoft YaHei"/>
                <a:cs typeface="Microsoft YaHei"/>
              </a:rPr>
              <a:t>沉淀城市复制包，启动第二个区县或银行渠道。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4C319-13C1-4599-B2F7-E37540E4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F6060-657C-49D5-858D-48F9C60A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SPARK Nexus 城市物业治理中枢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15BD8-0E43-4A1F-BF53-4A05708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77A"/>
                </a:solidFill>
                <a:latin typeface="Microsoft YaHei"/>
                <a:ea typeface="Microsoft YaHei"/>
                <a:cs typeface="Microsoft YaHei"/>
              </a:rPr>
              <a:t>融资用途：研发 45% / 销售 25% / 交付 15% / 合规 10% / 运营 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92A24-8A62-4101-B4B7-054F9C49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7C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89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2026-06-04T17:38:23.7390000Z</dcterms:created>
  <dcterms:modified xsi:type="dcterms:W3CDTF">2026-06-04T17:38:23.7390000Z</dcterms:modified>
</coreProperties>
</file>